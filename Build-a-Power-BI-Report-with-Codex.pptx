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Barlow" panose="00000500000000000000" pitchFamily="2" charset="-18"/>
      <p:regular r:id="rId13"/>
    </p:embeddedFont>
    <p:embeddedFont>
      <p:font typeface="Barlow Bold" panose="020B0604020202020204" charset="-18"/>
      <p:regular r:id="rId14"/>
    </p:embeddedFon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Spline Sans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A7E7"/>
    <a:srgbClr val="29DDDA"/>
    <a:srgbClr val="16F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0364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6086" y="1907977"/>
            <a:ext cx="6151409" cy="116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Build a Power BI Report with Codex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306086" y="3388023"/>
            <a:ext cx="6151409" cy="1007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practical, repeatable workflow from case idea and sample data to a validated PBIP report — using VS Code, Codex CLI, and Power BI MCP.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5306086" y="4631234"/>
            <a:ext cx="1827266" cy="318790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3"/>
          <p:cNvSpPr/>
          <p:nvPr/>
        </p:nvSpPr>
        <p:spPr>
          <a:xfrm>
            <a:off x="5431892" y="4694138"/>
            <a:ext cx="2185238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VS CODE + CODEX CLI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238224" y="4631234"/>
            <a:ext cx="1340213" cy="318790"/>
          </a:xfrm>
          <a:prstGeom prst="roundRect">
            <a:avLst>
              <a:gd name="adj" fmla="val 49999"/>
            </a:avLst>
          </a:prstGeom>
          <a:noFill/>
          <a:ln w="1905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5"/>
          <p:cNvSpPr/>
          <p:nvPr/>
        </p:nvSpPr>
        <p:spPr>
          <a:xfrm>
            <a:off x="7364030" y="4694138"/>
            <a:ext cx="1698186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POWER BI MCP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3309" y="4631234"/>
            <a:ext cx="1336443" cy="318790"/>
          </a:xfrm>
          <a:prstGeom prst="roundRect">
            <a:avLst>
              <a:gd name="adj" fmla="val 49999"/>
            </a:avLst>
          </a:prstGeom>
          <a:noFill/>
          <a:ln w="1905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7"/>
          <p:cNvSpPr/>
          <p:nvPr/>
        </p:nvSpPr>
        <p:spPr>
          <a:xfrm>
            <a:off x="8809115" y="4694138"/>
            <a:ext cx="1694415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PBIP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200" y="713879"/>
            <a:ext cx="6151409" cy="437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the Project Produced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734200" y="1327944"/>
            <a:ext cx="6151409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fully validated local PBIP report — model, measures, pages, screenshots, and audit evidence — all generated through Codex.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34200" y="1901230"/>
            <a:ext cx="6151409" cy="1082377"/>
          </a:xfrm>
          <a:prstGeom prst="roundRect">
            <a:avLst>
              <a:gd name="adj" fmla="val 21806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3"/>
          <p:cNvSpPr/>
          <p:nvPr/>
        </p:nvSpPr>
        <p:spPr>
          <a:xfrm>
            <a:off x="910508" y="2077541"/>
            <a:ext cx="5798794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Star Schema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10508" y="2366764"/>
            <a:ext cx="5798794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Four tables: Sales, Customer, Product, Calendar — single-direction filters and a marked date table.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4200" y="3101578"/>
            <a:ext cx="6151409" cy="862112"/>
          </a:xfrm>
          <a:prstGeom prst="roundRect">
            <a:avLst>
              <a:gd name="adj" fmla="val 27377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6"/>
          <p:cNvSpPr/>
          <p:nvPr/>
        </p:nvSpPr>
        <p:spPr>
          <a:xfrm>
            <a:off x="910508" y="3277890"/>
            <a:ext cx="5798794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DAX Measure Library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10508" y="3567112"/>
            <a:ext cx="5798794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17 validated measures across sales, profitability, discounts, and time intelligence.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4200" y="4081661"/>
            <a:ext cx="6151409" cy="862112"/>
          </a:xfrm>
          <a:prstGeom prst="roundRect">
            <a:avLst>
              <a:gd name="adj" fmla="val 27377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9"/>
          <p:cNvSpPr/>
          <p:nvPr/>
        </p:nvSpPr>
        <p:spPr>
          <a:xfrm>
            <a:off x="910508" y="4257973"/>
            <a:ext cx="5798794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PBIR Report Pages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10508" y="4547195"/>
            <a:ext cx="5798794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Four-page executive review with screenshots for QA and KPI reconciliation.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4200" y="5061744"/>
            <a:ext cx="6151409" cy="1082377"/>
          </a:xfrm>
          <a:prstGeom prst="roundRect">
            <a:avLst>
              <a:gd name="adj" fmla="val 21806"/>
            </a:avLst>
          </a:prstGeom>
          <a:solidFill>
            <a:srgbClr val="0A081B"/>
          </a:solidFill>
          <a:ln w="1905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2"/>
          <p:cNvSpPr/>
          <p:nvPr/>
        </p:nvSpPr>
        <p:spPr>
          <a:xfrm>
            <a:off x="910508" y="5238055"/>
            <a:ext cx="5798794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Reusable Workflow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10508" y="5527278"/>
            <a:ext cx="5798794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Source-controlled prompts and AGENTS.md ready for the next Power BI + Codex project.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762794"/>
            <a:ext cx="10723294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Human First, Then Machine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34200" y="1765102"/>
            <a:ext cx="11332879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Codex accelerates execution — but only when the human defines the problem clearly and the tooling is in place.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83193" y="2336800"/>
            <a:ext cx="5407783" cy="2347615"/>
          </a:xfrm>
          <a:prstGeom prst="roundRect">
            <a:avLst>
              <a:gd name="adj" fmla="val 21448"/>
            </a:avLst>
          </a:prstGeom>
          <a:solidFill>
            <a:srgbClr val="091231">
              <a:alpha val="75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792936" y="2546548"/>
            <a:ext cx="498829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Human Defines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92936" y="3047702"/>
            <a:ext cx="4988296" cy="1563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Business case and target audience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Tables needed for the model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Model guide and data dictionary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Approval gates and quality criteria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358076" y="2546548"/>
            <a:ext cx="5105768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AI Accelerates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58076" y="3047702"/>
            <a:ext cx="5105768" cy="1563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Populate demo data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 and validate the semantic model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Create DAX measures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Plan, build, and QA the report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34200" y="4920357"/>
            <a:ext cx="10723294" cy="1174849"/>
          </a:xfrm>
          <a:prstGeom prst="roundRect">
            <a:avLst>
              <a:gd name="adj" fmla="val 26786"/>
            </a:avLst>
          </a:prstGeom>
          <a:solidFill>
            <a:srgbClr val="00805A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944" y="5221188"/>
            <a:ext cx="262229" cy="2097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5915" y="5182493"/>
            <a:ext cx="9831836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Machine Setup:</a:t>
            </a:r>
            <a:r>
              <a:rPr lang="en-US" sz="16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VS Code + Codex CLI + Node.js · Power BI Modeling MCP · Report Authoring CLI + Desktop Bridge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037630"/>
            <a:ext cx="10723294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Recommended Project Folder Structure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34200" y="1836043"/>
            <a:ext cx="11332879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Keep prompts, skills, data, and PBIP files in one VS Code workspace. Codex reads all context from the root.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4200" y="2440781"/>
            <a:ext cx="4735107" cy="3209131"/>
          </a:xfrm>
          <a:prstGeom prst="roundRect">
            <a:avLst>
              <a:gd name="adj" fmla="val 8335"/>
            </a:avLst>
          </a:prstGeom>
          <a:solidFill>
            <a:srgbClr val="17152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948110" y="2619077"/>
            <a:ext cx="4521197" cy="285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power-bi-codex/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data/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microsoft-fabric-skills/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prompts/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01-validate-source-and-build-model.md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02-read-only-model-audit.md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03-create-and-validate-measures.md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04-plan-build-and-validate-report.md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sales-report/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AGENTS.md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761687" y="2421830"/>
            <a:ext cx="570205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Why This Works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761687" y="2820988"/>
            <a:ext cx="5702058" cy="1214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3000"/>
              </a:lnSpc>
              <a:buSzPct val="100000"/>
              <a:buChar char="•"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AGENTS.md</a:t>
            </a: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defines rules of engagement for Codex</a:t>
            </a:r>
            <a:endParaRPr lang="en-US" sz="1400" dirty="0"/>
          </a:p>
          <a:p>
            <a:pPr marL="284480" indent="-284480" algn="l">
              <a:lnSpc>
                <a:spcPct val="12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Prompt files are reusable and version-controlled</a:t>
            </a:r>
            <a:endParaRPr lang="en-US" sz="1400" dirty="0"/>
          </a:p>
          <a:p>
            <a:pPr marL="284480" indent="-284480" algn="l">
              <a:lnSpc>
                <a:spcPct val="12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PBIP exposes model and report as editable files</a:t>
            </a:r>
            <a:endParaRPr lang="en-US" sz="1400" dirty="0"/>
          </a:p>
          <a:p>
            <a:pPr marL="284480" indent="-284480" algn="l">
              <a:lnSpc>
                <a:spcPct val="12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Report spec becomes audit evidence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23788"/>
            <a:ext cx="10723294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AGENTS.md: The Operating System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734200" y="1405136"/>
            <a:ext cx="10723294" cy="515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AGENTS.md sets the contract; four prompt files create gated, reusable phases. Treat them as source-controlled procedures, not chat messages.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200" y="2086074"/>
            <a:ext cx="5288227" cy="14767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46654" y="2194322"/>
            <a:ext cx="263221" cy="3291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928763" y="2778522"/>
            <a:ext cx="489910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Validate Source + Build Model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28763" y="3110409"/>
            <a:ext cx="4899101" cy="257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Excel checks → star schema → model validation</a:t>
            </a:r>
            <a:endParaRPr lang="en-US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9268" y="2086074"/>
            <a:ext cx="5288227" cy="14767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1721" y="2194322"/>
            <a:ext cx="263221" cy="3291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050" dirty="0"/>
          </a:p>
        </p:txBody>
      </p:sp>
      <p:sp>
        <p:nvSpPr>
          <p:cNvPr id="10" name="Text 6"/>
          <p:cNvSpPr/>
          <p:nvPr/>
        </p:nvSpPr>
        <p:spPr>
          <a:xfrm>
            <a:off x="6363831" y="2778522"/>
            <a:ext cx="489910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Read-Only Model Audit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363831" y="3110409"/>
            <a:ext cx="4899101" cy="257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Confirm tables, row counts, relationships, settings</a:t>
            </a:r>
            <a:endParaRPr lang="en-US" sz="13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200" y="3709690"/>
            <a:ext cx="5288227" cy="14767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46654" y="3817938"/>
            <a:ext cx="263221" cy="3291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050" dirty="0"/>
          </a:p>
        </p:txBody>
      </p:sp>
      <p:sp>
        <p:nvSpPr>
          <p:cNvPr id="14" name="Text 9"/>
          <p:cNvSpPr/>
          <p:nvPr/>
        </p:nvSpPr>
        <p:spPr>
          <a:xfrm>
            <a:off x="928763" y="4402137"/>
            <a:ext cx="489910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Create + Validate Measures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928763" y="4734024"/>
            <a:ext cx="4899101" cy="257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17 measures → DAX read-back → validation queries</a:t>
            </a:r>
            <a:endParaRPr lang="en-US" sz="13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69268" y="3709690"/>
            <a:ext cx="5288227" cy="14767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81721" y="3817938"/>
            <a:ext cx="263221" cy="3291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</a:t>
            </a:r>
            <a:endParaRPr lang="en-US" sz="2050" dirty="0"/>
          </a:p>
        </p:txBody>
      </p:sp>
      <p:sp>
        <p:nvSpPr>
          <p:cNvPr id="18" name="Text 12"/>
          <p:cNvSpPr/>
          <p:nvPr/>
        </p:nvSpPr>
        <p:spPr>
          <a:xfrm>
            <a:off x="6363831" y="4402137"/>
            <a:ext cx="489910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Plan + Build + Validate Report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363831" y="4734024"/>
            <a:ext cx="4899101" cy="257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Report spec → PBIR pages → screenshots → KPI reconciliation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734200" y="5351661"/>
            <a:ext cx="10723294" cy="882452"/>
          </a:xfrm>
          <a:prstGeom prst="roundRect">
            <a:avLst>
              <a:gd name="adj" fmla="val 29839"/>
            </a:avLst>
          </a:prstGeom>
          <a:solidFill>
            <a:srgbClr val="4B3F02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714" y="5588893"/>
            <a:ext cx="219367" cy="17551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04595" y="5542359"/>
            <a:ext cx="9977386" cy="515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Safety gates:</a:t>
            </a:r>
            <a:r>
              <a:rPr lang="en-US" sz="13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Do not create report pages until source data is analyzed, star schema is approved, model is built and validated, and measures are tested.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775395"/>
            <a:ext cx="10723294" cy="553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Prompt 1: Validate the Data First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734200" y="1707654"/>
            <a:ext cx="11332879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first prompt inspects the workbook and waits for approval before touching the Power BI model.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34200" y="2420838"/>
            <a:ext cx="5118567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Prompt 1 Checks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4200" y="2886968"/>
            <a:ext cx="5118567" cy="3129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Source tables: tblSales, tblCustomer, tblProduct, tblCalendar</a:t>
            </a:r>
            <a:endParaRPr lang="en-US" sz="1550" dirty="0"/>
          </a:p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Row counts, column names, data types, primary and foreign keys</a:t>
            </a:r>
            <a:endParaRPr lang="en-US" sz="1550" dirty="0"/>
          </a:p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Duplicate keys, nulls, referential integrity, date coverage</a:t>
            </a:r>
            <a:endParaRPr lang="en-US" sz="1550" dirty="0"/>
          </a:p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SalesAmount = Quantity × UnitPrice × (1 − DiscountPct)</a:t>
            </a:r>
            <a:endParaRPr lang="en-US" sz="1550" dirty="0"/>
          </a:p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Star schema and Calendar[Date] date-table configuration</a:t>
            </a:r>
            <a:endParaRPr lang="en-US" sz="1550" dirty="0"/>
          </a:p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Single-direction filters from dimensions to Sales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201810" y="2231529"/>
            <a:ext cx="5405501" cy="3851077"/>
          </a:xfrm>
          <a:prstGeom prst="roundRect">
            <a:avLst>
              <a:gd name="adj" fmla="val 12421"/>
            </a:avLst>
          </a:prstGeom>
          <a:solidFill>
            <a:srgbClr val="091231">
              <a:alpha val="75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6401037" y="2420838"/>
            <a:ext cx="5007048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Approval Gate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1037" y="2886968"/>
            <a:ext cx="5007048" cy="932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Codex returns a concise validation report and </a:t>
            </a: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waits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Only after explicit approval does it build tables, relationships, the marked date table, and model settings.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1037" y="4032746"/>
            <a:ext cx="2139400" cy="302816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6520592" y="4092476"/>
            <a:ext cx="2509874" cy="183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SOURCE VALIDATION: PASS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40050" y="4032746"/>
            <a:ext cx="1960613" cy="302816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8759606" y="4092476"/>
            <a:ext cx="2331086" cy="183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SEMANTIC MODEL: PASS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863005"/>
            <a:ext cx="10723294" cy="553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Prompts 2 &amp; 3: Audit, Then Create Measures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734200" y="1889919"/>
            <a:ext cx="5118567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Prompt 2 — Read-Only Audit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4200" y="2356048"/>
            <a:ext cx="5118567" cy="2573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create, update, delete, rename, import, or refresh</a:t>
            </a:r>
            <a:endParaRPr lang="en-US" sz="1550" dirty="0"/>
          </a:p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Verify exactly four tables and expected row counts</a:t>
            </a:r>
            <a:endParaRPr lang="en-US" sz="1550" dirty="0"/>
          </a:p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Confirm active single-direction relationships</a:t>
            </a:r>
            <a:endParaRPr lang="en-US" sz="1550" dirty="0"/>
          </a:p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Confirm Calendar[Date] as date table</a:t>
            </a:r>
            <a:endParaRPr lang="en-US" sz="1550" dirty="0"/>
          </a:p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List existing measures with DAX, formats, folders</a:t>
            </a:r>
            <a:endParaRPr lang="en-US" sz="1550" dirty="0"/>
          </a:p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Return PASS/FAIL for each check</a:t>
            </a:r>
            <a:endParaRPr lang="en-US" sz="1550" dirty="0"/>
          </a:p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 actual model names exactly — never invent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345277" y="1889919"/>
            <a:ext cx="5118567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Prompt 3 — Create Measures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45277" y="2356048"/>
            <a:ext cx="5118567" cy="3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 Calendar[Date] for all time intelligence</a:t>
            </a:r>
            <a:endParaRPr lang="en-US" sz="1550" dirty="0"/>
          </a:p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Apply currency, whole-number, and percentage formats</a:t>
            </a:r>
            <a:endParaRPr lang="en-US" sz="1550" dirty="0"/>
          </a:p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Read every new measure back</a:t>
            </a:r>
            <a:endParaRPr lang="en-US" sz="1550" dirty="0"/>
          </a:p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Run validation DAX queries</a:t>
            </a:r>
            <a:endParaRPr lang="en-US" sz="1550" dirty="0"/>
          </a:p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Sales: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Sales Amount, Total Quantity, Order Count, Avg Order Value, Avg Selling Price</a:t>
            </a:r>
            <a:endParaRPr lang="en-US" sz="1550" dirty="0"/>
          </a:p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Profitability: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Gross Cost, Gross Profit, Gross Margin %</a:t>
            </a:r>
            <a:endParaRPr lang="en-US" sz="1550" dirty="0"/>
          </a:p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Discounts: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Discount Amount, Average Discount %</a:t>
            </a:r>
            <a:endParaRPr lang="en-US" sz="1550" dirty="0"/>
          </a:p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Time Intelligence: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YTD, Previous Year, YoY, YoY %, Previous Month, MoM, MoM %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76957"/>
            <a:ext cx="10723294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Prompt 4: Plan, Approve, Build, Validate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34200" y="1076821"/>
            <a:ext cx="1133287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report phase works from </a:t>
            </a:r>
            <a:r>
              <a:rPr lang="en-US" sz="9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_brief/report-spec.md</a:t>
            </a: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produces validation evidence — not just pages.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32" y="1322288"/>
            <a:ext cx="6857531" cy="33711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22598" y="1645412"/>
            <a:ext cx="1394017" cy="174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Build Pages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022598" y="1875431"/>
            <a:ext cx="3171388" cy="125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Generate pages and evidence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022598" y="2433052"/>
            <a:ext cx="1394017" cy="174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Approve Plan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022598" y="2663070"/>
            <a:ext cx="3171388" cy="125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Explicit sign-off to proceed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022598" y="3220691"/>
            <a:ext cx="1394017" cy="174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Plan Spec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022598" y="3450710"/>
            <a:ext cx="3171388" cy="125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Draft report specification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029568" y="4008330"/>
            <a:ext cx="1394017" cy="174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Audit Model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029568" y="4238349"/>
            <a:ext cx="3171389" cy="125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Review outputs and risks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34200" y="4778177"/>
            <a:ext cx="1133287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Each step requires explicit approval before Codex proceeds to the next — keeping AI work bounded and auditable.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34200" y="5098951"/>
            <a:ext cx="5208358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Report Spec Highlights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34200" y="5348883"/>
            <a:ext cx="5208358" cy="908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Four-page executive review</a:t>
            </a:r>
            <a:endParaRPr lang="en-US" sz="950" dirty="0"/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Default context: Calendar[Year] = 2026</a:t>
            </a:r>
            <a:endParaRPr lang="en-US" sz="950" dirty="0"/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Decision rules for underperforming products/customers</a:t>
            </a:r>
            <a:endParaRPr lang="en-US" sz="950" dirty="0"/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Design contract: cool-grey, slate, cyan accent</a:t>
            </a:r>
            <a:endParaRPr lang="en-US" sz="950" dirty="0"/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KPI reconciliation targets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255486" y="5098951"/>
            <a:ext cx="5208358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Build + QA Outputs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255486" y="5348883"/>
            <a:ext cx="5208358" cy="908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PBIR validation result (zero errors)</a:t>
            </a:r>
            <a:endParaRPr lang="en-US" sz="950" dirty="0"/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Desktop Bridge reload status</a:t>
            </a:r>
            <a:endParaRPr lang="en-US" sz="950" dirty="0"/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Screenshot path for each page</a:t>
            </a:r>
            <a:endParaRPr lang="en-US" sz="950" dirty="0"/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Visual and page inventory</a:t>
            </a:r>
            <a:endParaRPr lang="en-US" sz="950" dirty="0"/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KPI reconciliation and slicer tests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039912"/>
            <a:ext cx="10723294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Final Report Artifacts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34200" y="2042220"/>
            <a:ext cx="11332879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Codex outputs are more than the report — they create files to keep and evidence to review.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34200" y="2823666"/>
            <a:ext cx="5105768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Files to Keep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4200" y="3324820"/>
            <a:ext cx="5105768" cy="2419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_brief/report-spec.md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prompts/01-04</a:t>
            </a: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workflow files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sales-report.Report/definition/**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sales-report.SemanticModel/definition/**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screenshots/report-final/**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tools/**</a:t>
            </a: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(optional helper scripts)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358076" y="2823666"/>
            <a:ext cx="5105768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Final Acceptance Tests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58076" y="3324820"/>
            <a:ext cx="5105768" cy="1972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Report opens cleanly in Power BI Desktop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PBIR validation has zero errors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Screenshots reviewed and approved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KPI values match DAX calculations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Slicers update visuals correctly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200" y="582216"/>
            <a:ext cx="6151409" cy="40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Repeatable Playbook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734200" y="1144290"/>
            <a:ext cx="6151409" cy="399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 the same disciplined structure for every Power BI + Codex project. Quality comes from process, not just the AI.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734200" y="1659136"/>
            <a:ext cx="587360" cy="881162"/>
          </a:xfrm>
          <a:prstGeom prst="roundRect">
            <a:avLst>
              <a:gd name="adj" fmla="val 50000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3"/>
          <p:cNvSpPr/>
          <p:nvPr/>
        </p:nvSpPr>
        <p:spPr>
          <a:xfrm>
            <a:off x="917750" y="1962051"/>
            <a:ext cx="220260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424349" y="1805980"/>
            <a:ext cx="5461260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Business Case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424349" y="2071588"/>
            <a:ext cx="5461260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Define the problem, audience, and acceptance criteria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4200" y="2643088"/>
            <a:ext cx="587360" cy="881162"/>
          </a:xfrm>
          <a:prstGeom prst="roundRect">
            <a:avLst>
              <a:gd name="adj" fmla="val 50000"/>
            </a:avLst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7"/>
          <p:cNvSpPr/>
          <p:nvPr/>
        </p:nvSpPr>
        <p:spPr>
          <a:xfrm>
            <a:off x="917750" y="2946003"/>
            <a:ext cx="220260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424349" y="2789932"/>
            <a:ext cx="5461260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Source Workbook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424349" y="3055541"/>
            <a:ext cx="5461260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Invent tables, have AI populate demo data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34200" y="3627041"/>
            <a:ext cx="587360" cy="881162"/>
          </a:xfrm>
          <a:prstGeom prst="roundRect">
            <a:avLst>
              <a:gd name="adj" fmla="val 50000"/>
            </a:avLst>
          </a:prstGeom>
          <a:solidFill>
            <a:srgbClr val="0A081B"/>
          </a:solidFill>
          <a:ln w="1270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1"/>
          <p:cNvSpPr/>
          <p:nvPr/>
        </p:nvSpPr>
        <p:spPr>
          <a:xfrm>
            <a:off x="917750" y="3929955"/>
            <a:ext cx="220260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424349" y="3773884"/>
            <a:ext cx="5461260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AGENTS.md + Prompts 01–04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424349" y="4039493"/>
            <a:ext cx="5461260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Set rules, run gated validation phases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34200" y="4610993"/>
            <a:ext cx="587360" cy="881162"/>
          </a:xfrm>
          <a:prstGeom prst="roundRect">
            <a:avLst>
              <a:gd name="adj" fmla="val 50000"/>
            </a:avLst>
          </a:prstGeom>
          <a:solidFill>
            <a:srgbClr val="0A081B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5"/>
          <p:cNvSpPr/>
          <p:nvPr/>
        </p:nvSpPr>
        <p:spPr>
          <a:xfrm>
            <a:off x="917750" y="4913908"/>
            <a:ext cx="220260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424349" y="4757837"/>
            <a:ext cx="5461260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Final QA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424349" y="5023445"/>
            <a:ext cx="5461260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PBIR validation, screenshots, KPI reconciliation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34200" y="5607745"/>
            <a:ext cx="6151409" cy="667941"/>
          </a:xfrm>
          <a:prstGeom prst="roundRect">
            <a:avLst>
              <a:gd name="adj" fmla="val 32980"/>
            </a:avLst>
          </a:prstGeom>
          <a:solidFill>
            <a:srgbClr val="00805A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40" y="5796161"/>
            <a:ext cx="183550" cy="1468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211431" y="5747246"/>
            <a:ext cx="5527338" cy="399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takeaway:</a:t>
            </a:r>
            <a:r>
              <a:rPr lang="en-US" sz="11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Keep the process bounded — plan → approve → implement → validate → stop. Codex can build a lot, but discipline makes it reliable.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1072</Words>
  <Application>Microsoft Office PowerPoint</Application>
  <PresentationFormat>Widescreen</PresentationFormat>
  <Paragraphs>154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Barlow Bold</vt:lpstr>
      <vt:lpstr>Spline Sans Bold</vt:lpstr>
      <vt:lpstr>Consolas</vt:lpstr>
      <vt:lpstr>Barlow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Wojciech Czok</dc:creator>
  <cp:lastModifiedBy>Wojciech Czok</cp:lastModifiedBy>
  <cp:revision>6</cp:revision>
  <dcterms:created xsi:type="dcterms:W3CDTF">2026-08-06T11:57:52Z</dcterms:created>
  <dcterms:modified xsi:type="dcterms:W3CDTF">2026-08-07T10:48:58Z</dcterms:modified>
</cp:coreProperties>
</file>